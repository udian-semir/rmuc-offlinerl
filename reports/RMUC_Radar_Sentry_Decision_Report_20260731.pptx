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mantic_map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89320" y="0"/>
            <a:ext cx="6217920" cy="6858000"/>
          </a:xfrm>
          <a:prstGeom prst="rect">
            <a:avLst/>
          </a:prstGeom>
          <a:solidFill>
            <a:srgbClr val="0C1119"/>
          </a:solidFill>
          <a:ln>
            <a:solidFill>
              <a:srgbClr val="0C1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685800"/>
            <a:ext cx="82296" cy="128016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713232"/>
            <a:ext cx="4892040" cy="2377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1">
                <a:solidFill>
                  <a:srgbClr val="32CBD9"/>
                </a:solidFill>
                <a:latin typeface="Noto Sans CJK SC"/>
              </a:rPr>
              <a:t>RMUC 2026  |  哨兵整车系统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060704"/>
            <a:ext cx="5257800" cy="12344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3000" b="1">
                <a:solidFill>
                  <a:srgbClr val="F0F4F8"/>
                </a:solidFill>
                <a:latin typeface="Noto Sans CJK SC"/>
              </a:rPr>
              <a:t>哨兵整车系统
决策端搭建进展汇报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00600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A6B4C3"/>
                </a:solidFill>
                <a:latin typeface="Noto Sans CJK SC"/>
              </a:rPr>
              <a:t>感知 / 导航 / 自瞄 / 裁判通信 · 语义地图 · 在线 PPO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94760"/>
            <a:ext cx="4983480" cy="123444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794760"/>
            <a:ext cx="45720" cy="123444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22776"/>
            <a:ext cx="469087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本次汇报重点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270248"/>
            <a:ext cx="4690872" cy="6492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完整展示整车执行链路；重点汇报雷达站高层战术决策、语义地图、规则世界模型和在线 PPO 的搭建进度。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53328"/>
            <a:ext cx="493776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000" b="0">
                <a:solidFill>
                  <a:srgbClr val="A6B4C3"/>
                </a:solidFill>
                <a:latin typeface="Noto Sans CJK SC"/>
              </a:rPr>
              <a:t>汇报人：俞典  ·  2026-07-31  ·  内部技术汇报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01 / WHOLE VEHICLE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整车系统分层：决策端是上层，不取代车端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74720" cy="34747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45720" cy="347472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18211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雷达站战术决策（重点）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92808"/>
            <a:ext cx="3182112" cy="2889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  <a:latin typeface="Noto Sans CJK SC"/>
              </a:rPr>
              <a:t>• 汇总全场结构化状态
• 选择 goal / target / fire mode
• 评估代价地图、局势与规则
• 触发低血量回补给等安全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34747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45720" cy="3474720"/>
          </a:xfrm>
          <a:prstGeom prst="roundRect">
            <a:avLst/>
          </a:prstGeom>
          <a:solidFill>
            <a:srgbClr val="4291F4"/>
          </a:solidFill>
          <a:ln>
            <a:solidFill>
              <a:srgbClr val="429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545336"/>
            <a:ext cx="318211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4291F4"/>
                </a:solidFill>
                <a:latin typeface="Noto Sans CJK SC"/>
              </a:rPr>
              <a:t>导航与底盘执行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92808"/>
            <a:ext cx="3182112" cy="2889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  <a:latin typeface="Noto Sans CJK SC"/>
              </a:rPr>
              <a:t>• 全局 JPS / 局部 ESDF / MINCO
• 局部控制与动态避障
• cmd_vel 仲裁与执行安全
• 不可达、碰撞、热量和弹药保护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429000" cy="34747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7304" y="1417320"/>
            <a:ext cx="45720" cy="347472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545336"/>
            <a:ext cx="313639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感知、自瞄与通信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892808"/>
            <a:ext cx="3136392" cy="28895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  <a:latin typeface="Noto Sans CJK SC"/>
              </a:rPr>
              <a:t>• FAST-LIO / ROG-Map / 语义地图
• tracker / 火控 / 云台执行
• 裁判系统与 CDC 状态协议
• 雷达失联后的本地兜底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789920" cy="457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60CD8E"/>
                </a:solidFill>
                <a:latin typeface="Noto Sans CJK SC"/>
              </a:rPr>
              <a:t>学习模块只输出战术意图；局部规划、自瞄与硬安全始终在车端闭环。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雷达站端到端决策链路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32CBD9"/>
                </a:solidFill>
                <a:latin typeface="Noto Sans CJK SC"/>
              </a:rPr>
              <a:t>雷达 / 裁判态势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敌我坐标、HP、时间、建筑、金币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514600"/>
            <a:ext cx="2560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0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E14D4D"/>
                </a:solidFill>
                <a:latin typeface="Noto Sans CJK SC"/>
              </a:rPr>
              <a:t>决策与语义规则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候选目标、PPO、recovery、安全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2514600"/>
            <a:ext cx="2560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0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60CD8E"/>
                </a:solidFill>
                <a:latin typeface="Noto Sans CJK SC"/>
              </a:rPr>
              <a:t>Radar Tactical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99 B 固定帧 / TTL / 优先级 /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2514600"/>
            <a:ext cx="2560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0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F5BB47"/>
                </a:solidFill>
                <a:latin typeface="Noto Sans CJK SC"/>
              </a:rPr>
              <a:t>车端仲裁器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一级 action / 二级态势 / 三级本地兜底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514600"/>
            <a:ext cx="2560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0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4291F4"/>
                </a:solidFill>
                <a:latin typeface="Noto Sans CJK SC"/>
              </a:rPr>
              <a:t>导航与底盘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JPS、MINCO、ESDF、cmd_vel mux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514600"/>
            <a:ext cx="2560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0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011680"/>
            <a:ext cx="1572768" cy="13258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176272"/>
            <a:ext cx="1389888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32CBD9"/>
                </a:solidFill>
                <a:latin typeface="Noto Sans CJK SC"/>
              </a:rPr>
              <a:t>感知与自瞄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606040"/>
            <a:ext cx="1389888" cy="5486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F0F4F8"/>
                </a:solidFill>
                <a:latin typeface="Noto Sans CJK SC"/>
              </a:rPr>
              <a:t>定位建图、tracker、火控、云台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160520"/>
            <a:ext cx="9966960" cy="4572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600" b="0">
                <a:solidFill>
                  <a:srgbClr val="A6B4C3"/>
                </a:solidFill>
                <a:latin typeface="Noto Sans CJK SC"/>
              </a:rPr>
              <a:t>闭环：雷达站下发战术意图；车端仲裁、导航与自瞄反馈路径、伤害、死亡和执行失败原因。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03 / VEHICLE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Gazebo 整车执行底座：已有模块与接口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" cy="1399032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9961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定位与地图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FAST-LIO TF 链；ROG-Map、/map、/local_grid_map、/local_esdf。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371600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1371600"/>
            <a:ext cx="45720" cy="1399032"/>
          </a:xfrm>
          <a:prstGeom prst="roundRect">
            <a:avLst/>
          </a:prstGeom>
          <a:solidFill>
            <a:srgbClr val="4291F4"/>
          </a:solidFill>
          <a:ln>
            <a:solidFill>
              <a:srgbClr val="429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9961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4291F4"/>
                </a:solidFill>
                <a:latin typeface="Noto Sans CJK SC"/>
              </a:rPr>
              <a:t>全局与局部导航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47088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/navigation/goal_pose → JPS global path → MINCO trajectory → ESDF local controller。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371600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66175" y="1371600"/>
            <a:ext cx="45720" cy="1399032"/>
          </a:xfrm>
          <a:prstGeom prst="roundRect">
            <a:avLst/>
          </a:prstGeom>
          <a:solidFill>
            <a:srgbClr val="60CD8E"/>
          </a:solidFill>
          <a:ln>
            <a:solidFill>
              <a:srgbClr val="6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149961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60CD8E"/>
                </a:solidFill>
                <a:latin typeface="Noto Sans CJK SC"/>
              </a:rPr>
              <a:t>底盘仲裁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1847088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cmd_vel_mux 在 teleop / navigation / timeout_stop 之间仲裁；车端唯一发布 /cmd_vel。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18688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18688"/>
            <a:ext cx="45720" cy="1399032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346704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直接火控仿真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694176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TrackedUnits → FireControlNode → serial/send → autoaim_bridge → Gazebo 云台关节。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218688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53128" y="3218688"/>
            <a:ext cx="45720" cy="1399032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346704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三层决策仲裁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694176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Radar Action / Radar State / Local Only；TTL、滞回、冷却和本地硬安全。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218688"/>
            <a:ext cx="3456432" cy="1399032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66175" y="3218688"/>
            <a:ext cx="45720" cy="139903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3346704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1E2836"/>
                </a:solidFill>
                <a:latin typeface="Noto Sans CJK SC"/>
              </a:rPr>
              <a:t>本项目接入点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3694176"/>
            <a:ext cx="3163824" cy="8138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向仲裁器提供 TacticalAction 与雷达态势；不直接越过 ROS 导航与自瞄节点。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04 / SEMANTIC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黑白可通行图与语义层分离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05</a:t>
            </a:r>
          </a:p>
        </p:txBody>
      </p:sp>
      <p:pic>
        <p:nvPicPr>
          <p:cNvPr id="6" name="Picture 5" descr="semantic_map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65836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4069080" cy="100584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52360" y="1325880"/>
            <a:ext cx="45720" cy="100584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6952" y="1453896"/>
            <a:ext cx="377647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硬约束层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776472" cy="4206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Noto Sans CJK SC"/>
              </a:rPr>
              <a:t>黑白障碍、车体可通行性、A* 禁止穿越。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514600"/>
            <a:ext cx="4069080" cy="100584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2514600"/>
            <a:ext cx="45720" cy="100584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2642616"/>
            <a:ext cx="377647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语义与收益层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2990088"/>
            <a:ext cx="3776472" cy="4206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Noto Sans CJK SC"/>
              </a:rPr>
              <a:t>补给、基地、前哨、堡垒、中央高地、隧道等独立 JSON 多边形。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703320"/>
            <a:ext cx="4069080" cy="100584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60" y="3703320"/>
            <a:ext cx="45720" cy="100584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3831336"/>
            <a:ext cx="377647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标定与使用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4178808"/>
            <a:ext cx="3776472" cy="42062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Noto Sans CJK SC"/>
              </a:rPr>
              <a:t>地图坐标为 28 × 15 m；语义区服务于规则、reward、cost 与 Foxglove 可视化。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49240"/>
            <a:ext cx="1088136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500" b="1">
                <a:solidFill>
                  <a:srgbClr val="60CD8E"/>
                </a:solidFill>
                <a:latin typeface="Noto Sans CJK SC"/>
              </a:rPr>
              <a:t>原则：语义区不覆盖硬障碍；地图收益必须通过正式规则触发，不把颜色当作奖励。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05 / TARGET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车辆目标选择：从“分类输出”升级为候选成本评估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35608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目标是否存活、是否可攻击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A* 到合法射击站位的可达性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04872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真实路径代价与动态威胁风险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71216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89504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射击站位距离与预期有效 DPS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74136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目标 HP、武器威胁、基地攻击压力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18288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32CBD9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58768"/>
            <a:ext cx="4636008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己方/敌方前哨、时间、低血量 recovery 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325880"/>
            <a:ext cx="5394960" cy="342900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600200"/>
            <a:ext cx="48006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1">
                <a:solidFill>
                  <a:srgbClr val="32CBD9"/>
                </a:solidFill>
                <a:latin typeface="Noto Sans CJK SC"/>
              </a:rPr>
              <a:t>每辆敌方地面车的候选特征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084831"/>
            <a:ext cx="1097280" cy="30175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112263"/>
            <a:ext cx="9601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5BB47"/>
                </a:solidFill>
                <a:latin typeface="Noto Sans CJK SC"/>
              </a:rPr>
              <a:t>可达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12263"/>
            <a:ext cx="324612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A* standoff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560320"/>
            <a:ext cx="1097280" cy="30175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587752"/>
            <a:ext cx="9601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5BB47"/>
                </a:solidFill>
                <a:latin typeface="Noto Sans CJK SC"/>
              </a:rPr>
              <a:t>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87752"/>
            <a:ext cx="324612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path risk / enemy threat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035808"/>
            <a:ext cx="1097280" cy="30175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063240"/>
            <a:ext cx="9601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5BB47"/>
                </a:solidFill>
                <a:latin typeface="Noto Sans CJK SC"/>
              </a:rPr>
              <a:t>收益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063240"/>
            <a:ext cx="324612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expected DPS / target HP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3511296"/>
            <a:ext cx="1097280" cy="30175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3538728"/>
            <a:ext cx="9601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5BB47"/>
                </a:solidFill>
                <a:latin typeface="Noto Sans CJK SC"/>
              </a:rPr>
              <a:t>紧急度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538728"/>
            <a:ext cx="324612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base / outpost pressure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3986783"/>
            <a:ext cx="1097280" cy="301752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4014215"/>
            <a:ext cx="96012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100" b="1">
                <a:solidFill>
                  <a:srgbClr val="F5BB47"/>
                </a:solidFill>
                <a:latin typeface="Noto Sans CJK SC"/>
              </a:rPr>
              <a:t>约束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014215"/>
            <a:ext cx="3246120" cy="21945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视线、射程、弹药、热量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30368"/>
            <a:ext cx="1069848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0">
                <a:solidFill>
                  <a:srgbClr val="A6B4C3"/>
                </a:solidFill>
                <a:latin typeface="Noto Sans CJK SC"/>
              </a:rPr>
              <a:t>状态：候选特征与互斥中央高地规则已实现；新网络需全新训练，当前已暂停以优先完成汇报。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06 /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1 Hz 规则世界模型：训练高层战术，不替代实车物理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5720" cy="141732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交战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92808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车辆有效 DPS：3 m / 5 m 分层；英雄保留 4 秒 42 mm 节奏；地面单位不能攻击空中。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1417320"/>
            <a:ext cx="45720" cy="141732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4533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建筑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8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前哨存活时基地无敌；建筑伤害要求停留 2 秒且 5 m 内无敌方地面车。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417320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66175" y="1417320"/>
            <a:ext cx="45720" cy="141732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1545336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复活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1892808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读条与比赛已进行时间相关；补给区或基地低血量时读条 4 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91839"/>
            <a:ext cx="45720" cy="1417320"/>
          </a:xfrm>
          <a:prstGeom prst="roundRect">
            <a:avLst/>
          </a:prstGeom>
          <a:solidFill>
            <a:srgbClr val="60CD8E"/>
          </a:solidFill>
          <a:ln>
            <a:solidFill>
              <a:srgbClr val="6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419855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60CD8E"/>
                </a:solidFill>
                <a:latin typeface="Noto Sans CJK SC"/>
              </a:rPr>
              <a:t>回血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67327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补给区 10% HP/s；4 分钟后脱战 6 秒可达 25% HP/s。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291839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53128" y="3291839"/>
            <a:ext cx="45720" cy="1417320"/>
          </a:xfrm>
          <a:prstGeom prst="roundRect">
            <a:avLst/>
          </a:prstGeom>
          <a:solidFill>
            <a:srgbClr val="4291F4"/>
          </a:solidFill>
          <a:ln>
            <a:solidFill>
              <a:srgbClr val="429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19855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4291F4"/>
                </a:solidFill>
                <a:latin typeface="Noto Sans CJK SC"/>
              </a:rPr>
              <a:t>陪练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67327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11 个冻结 offlineRL 角色给出路线/建筑意图；贴身合法交战由 reactive auto-aim 补齐。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291839"/>
            <a:ext cx="3456432" cy="14173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66175" y="3291839"/>
            <a:ext cx="45720" cy="1417320"/>
          </a:xfrm>
          <a:prstGeom prst="round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3419855"/>
            <a:ext cx="3163824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1E2836"/>
                </a:solidFill>
                <a:latin typeface="Noto Sans CJK SC"/>
              </a:rPr>
              <a:t>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3767327"/>
            <a:ext cx="3163824" cy="8321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金币、远程回血、立即复活、虚弱解除与细粒度弹道尚未完整接入。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07 / SAFETY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低血量回补给：规则驱动的安全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29260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700" b="1">
                <a:solidFill>
                  <a:srgbClr val="E14D4D"/>
                </a:solidFill>
                <a:latin typeface="Noto Sans CJK SC"/>
              </a:rPr>
              <a:t>HP ≤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353312"/>
            <a:ext cx="29260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700" b="1">
                <a:solidFill>
                  <a:srgbClr val="32CBD9"/>
                </a:solidFill>
                <a:latin typeface="Noto Sans CJK SC"/>
              </a:rPr>
              <a:t>锁定 healing_2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53312"/>
            <a:ext cx="29260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700" b="1">
                <a:solidFill>
                  <a:srgbClr val="60CD8E"/>
                </a:solidFill>
                <a:latin typeface="Noto Sans CJK SC"/>
              </a:rPr>
              <a:t>HP ≥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74519"/>
            <a:ext cx="1828800" cy="10515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01952" y="2176272"/>
            <a:ext cx="502920" cy="50292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1874519"/>
            <a:ext cx="1828800" cy="10515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9552" y="2176272"/>
            <a:ext cx="502920" cy="50292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9640" y="1874519"/>
            <a:ext cx="1828800" cy="10515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2176272"/>
            <a:ext cx="502920" cy="502920"/>
          </a:xfrm>
          <a:prstGeom prst="roundRect">
            <a:avLst/>
          </a:prstGeom>
          <a:solidFill>
            <a:srgbClr val="60CD8E"/>
          </a:solidFill>
          <a:ln>
            <a:solidFill>
              <a:srgbClr val="6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148840"/>
            <a:ext cx="10972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8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148840"/>
            <a:ext cx="109728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2800" b="0">
                <a:solidFill>
                  <a:srgbClr val="A6B4C3"/>
                </a:solidFill>
                <a:latin typeface="Noto Sans CJK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10469880" cy="109728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94760"/>
            <a:ext cx="45720" cy="109728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922776"/>
            <a:ext cx="1017727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为什么这是安全 skill 而不是让 PPO 自己猜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10177272" cy="51206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旧策略曾在 80 HP 停留中央高地。现在 recovery 在观测 mask 与执行层同时生效；PPO 不会因为动作被静默改写而学到错误因果。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08 / DECISION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与 Gazebo 三层决策蓝图的接口：雷达站负责一级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9659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45720" cy="196596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53896"/>
            <a:ext cx="32278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一级：Radar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1368"/>
            <a:ext cx="3227832" cy="13807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本项目输出 TacticalAction：GO_TO / PURSUE / DEFEND / RETREAT / SUPPORT，带 target、goal、约束、TTL、优先级和 fallback。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45720" cy="196596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53896"/>
            <a:ext cx="32278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二级：Radar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01368"/>
            <a:ext cx="3227832" cy="13807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action 过期但态势仍新鲜时，哨兵端行为树 + 效用函数读取敌我位置、HP 与语义地图自主排序。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9659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45720" cy="196596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453896"/>
            <a:ext cx="322783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三级：Local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01368"/>
            <a:ext cx="3227832" cy="13807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雷达站超时后，Gazebo/车端依赖视觉、激光、里程计、本地 ESDF 与语义地图保守兜底。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94760"/>
            <a:ext cx="10561320" cy="1115568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95928"/>
            <a:ext cx="996696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800" b="1">
                <a:solidFill>
                  <a:srgbClr val="60CD8E"/>
                </a:solidFill>
                <a:latin typeface="Noto Sans CJK SC"/>
              </a:rPr>
              <a:t>RadarTacticalStateWireV1（99 B，CRC、序列号、TTL）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70832"/>
            <a:ext cx="996696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0">
                <a:solidFill>
                  <a:srgbClr val="F0F4F8"/>
                </a:solidFill>
                <a:latin typeface="Noto Sans CJK SC"/>
              </a:rPr>
              <a:t>CDC / 裁判交互链路 → latest_radar_state → 车端仲裁器 → /navigation/goal_pose 与自瞄优先级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94960"/>
            <a:ext cx="1078992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0">
                <a:solidFill>
                  <a:srgbClr val="A6B4C3"/>
                </a:solidFill>
                <a:latin typeface="Noto Sans CJK SC"/>
              </a:rPr>
              <a:t>车端已有导航：/navigation/goal_pose → JPS 全局路径 → MINCO/ESDF 局部控制 → /cmd_vel；雷达站不直接发布底盘速度。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09 / REPLAY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统一标注回放：用于验证链路，不用于宣称真实胜率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10</a:t>
            </a:r>
          </a:p>
        </p:txBody>
      </p:sp>
      <p:pic>
        <p:nvPicPr>
          <p:cNvPr id="6" name="Picture 5" descr="replay_rules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6720840" cy="3730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71231" y="1298448"/>
            <a:ext cx="3886200" cy="9601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71231" y="1298448"/>
            <a:ext cx="45720" cy="96012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5823" y="1426464"/>
            <a:ext cx="359359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32CBD9"/>
                </a:solidFill>
                <a:latin typeface="Noto Sans CJK SC"/>
              </a:rPr>
              <a:t>统一渲染合同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3" y="1773936"/>
            <a:ext cx="3593592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无网格比赛底图；固定字体、血条、建筑 HP、射程环、意图线和伤害线。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231" y="2468880"/>
            <a:ext cx="3886200" cy="9601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71231" y="2468880"/>
            <a:ext cx="45720" cy="96012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3" y="2596896"/>
            <a:ext cx="359359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可核验数据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5823" y="2944368"/>
            <a:ext cx="3593592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steps.csv、units.csv、combat_events.csv、summary.json 与 MP4 同步生成。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3639312"/>
            <a:ext cx="3886200" cy="96012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71231" y="3639312"/>
            <a:ext cx="45720" cy="96012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5823" y="3767328"/>
            <a:ext cx="359359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本次规则回放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3" y="4114800"/>
            <a:ext cx="3593592" cy="37490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  <a:latin typeface="Noto Sans CJK SC"/>
              </a:rPr>
              <a:t>420 秒；蓝方会贴身反击；红哨兵触发多段回补给。旧 PPO 仅作规则回归，不作最终策略。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58384"/>
            <a:ext cx="107899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400" b="1">
                <a:solidFill>
                  <a:srgbClr val="60CD8E"/>
                </a:solidFill>
                <a:latin typeface="Noto Sans CJK SC"/>
              </a:rPr>
              <a:t>回放目的：发现“贴脸不打、早期推塔、低血量不回补给”等系统错误，再反馈给世界模型和训练。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10 /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当前完成项、已发现问题与结论边界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3566160" cy="35661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325880"/>
            <a:ext cx="45720" cy="3566160"/>
          </a:xfrm>
          <a:prstGeom prst="roundRect">
            <a:avLst/>
          </a:prstGeom>
          <a:solidFill>
            <a:srgbClr val="60CD8E"/>
          </a:solidFill>
          <a:ln>
            <a:solidFill>
              <a:srgbClr val="6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6"/>
            <a:ext cx="327355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60CD8E"/>
                </a:solidFill>
                <a:latin typeface="Noto Sans CJK SC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01368"/>
            <a:ext cx="3273552" cy="29809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语义地图对齐与可视化
0.1 m A* 与成本图
11 角色 offlineRL 陪练接入
规则交战、建筑、复活、补给
主动猎杀 reward / 低血量 recovery
标准回放与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25880"/>
            <a:ext cx="3566160" cy="35661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45720" cy="356616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53896"/>
            <a:ext cx="327355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F5BB47"/>
                </a:solidFill>
                <a:latin typeface="Noto Sans CJK SC"/>
              </a:rPr>
              <a:t>已暴露并修正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01368"/>
            <a:ext cx="3273552" cy="29809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陪练 target=none 导致贴脸不打
建筑目标曾绕过 2 秒停留规则
复活后错误清空弹药
低血量错误离开补给区
中央高地曾被建模为无条件收益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25880"/>
            <a:ext cx="3566160" cy="356616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0144" y="1325880"/>
            <a:ext cx="45720" cy="356616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453896"/>
            <a:ext cx="3273552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1">
                <a:solidFill>
                  <a:srgbClr val="E14D4D"/>
                </a:solidFill>
                <a:latin typeface="Noto Sans CJK SC"/>
              </a:rPr>
              <a:t>不能过度解读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01368"/>
            <a:ext cx="3273552" cy="2980944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单局 red_win / blue_win
离线 held-out 分数
世界模型中的单一陪练池
未标定的实车速度、命中率、通信误差
尚未训练完成的候选目标版本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869680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900" b="1">
                <a:solidFill>
                  <a:srgbClr val="32CBD9"/>
                </a:solidFill>
                <a:latin typeface="Noto Sans CJK SC"/>
              </a:rPr>
              <a:t>11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0881360" cy="5029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500" b="1">
                <a:solidFill>
                  <a:srgbClr val="F0F4F8"/>
                </a:solidFill>
                <a:latin typeface="Noto Sans CJK SC"/>
              </a:rPr>
              <a:t>下一阶段：先稳定对手，再训练主哨兵，再接入 Gazebo/实车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18288"/>
          </a:xfrm>
          <a:prstGeom prst="rect">
            <a:avLst/>
          </a:prstGeom>
          <a:solidFill>
            <a:srgbClr val="1E2836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572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/>
            <a:r>
              <a:rPr sz="1000" b="0">
                <a:solidFill>
                  <a:srgbClr val="A6B4C3"/>
                </a:solidFill>
                <a:latin typeface="Noto Sans CJK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502920" cy="502920"/>
          </a:xfrm>
          <a:prstGeom prst="roundRect">
            <a:avLst/>
          </a:prstGeom>
          <a:solidFill>
            <a:srgbClr val="F5BB47"/>
          </a:solidFill>
          <a:ln>
            <a:solidFill>
              <a:srgbClr val="F5B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C1119"/>
                </a:solidFill>
                <a:latin typeface="Noto Sans CJK SC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80744"/>
            <a:ext cx="20116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F5BB47"/>
                </a:solidFill>
                <a:latin typeface="Noto Sans CJK SC"/>
              </a:rPr>
              <a:t>冻结规则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380744"/>
            <a:ext cx="758952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补齐金币、远程回血、立即复活、弱化与高地占领细节；固定回归场景。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14015"/>
            <a:ext cx="502920" cy="502920"/>
          </a:xfrm>
          <a:prstGeom prst="roundRect">
            <a:avLst/>
          </a:prstGeom>
          <a:solidFill>
            <a:srgbClr val="4291F4"/>
          </a:solidFill>
          <a:ln>
            <a:solidFill>
              <a:srgbClr val="429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3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C1119"/>
                </a:solidFill>
                <a:latin typeface="Noto Sans CJK SC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41447"/>
            <a:ext cx="20116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4291F4"/>
                </a:solidFill>
                <a:latin typeface="Noto Sans CJK SC"/>
              </a:rPr>
              <a:t>稳定陪练池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441447"/>
            <a:ext cx="758952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按角色与风格做 leave-one-style-out；检查路线、交战、建筑推进分布。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2920" cy="502920"/>
          </a:xfrm>
          <a:prstGeom prst="roundRect">
            <a:avLst/>
          </a:prstGeom>
          <a:solidFill>
            <a:srgbClr val="E14D4D"/>
          </a:solidFill>
          <a:ln>
            <a:solidFill>
              <a:srgbClr val="E1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8444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C1119"/>
                </a:solidFill>
                <a:latin typeface="Noto Sans CJK SC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02152"/>
            <a:ext cx="20116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E14D4D"/>
                </a:solidFill>
                <a:latin typeface="Noto Sans CJK SC"/>
              </a:rPr>
              <a:t>候选目标 PPO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502152"/>
            <a:ext cx="758952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在主动反击陪练环境重新训练；比较基地守护、有效 DPS、胜率与熵。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35423"/>
            <a:ext cx="502920" cy="502920"/>
          </a:xfrm>
          <a:prstGeom prst="roundRect">
            <a:avLst/>
          </a:prstGeom>
          <a:solidFill>
            <a:srgbClr val="60CD8E"/>
          </a:solidFill>
          <a:ln>
            <a:solidFill>
              <a:srgbClr val="60C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1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300" b="1">
                <a:solidFill>
                  <a:srgbClr val="0C1119"/>
                </a:solidFill>
                <a:latin typeface="Noto Sans CJK SC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62855"/>
            <a:ext cx="2011680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1">
                <a:solidFill>
                  <a:srgbClr val="60CD8E"/>
                </a:solidFill>
                <a:latin typeface="Noto Sans CJK SC"/>
              </a:rPr>
              <a:t>实车标定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562855"/>
            <a:ext cx="7589520" cy="3840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Noto Sans CJK SC"/>
              </a:rPr>
              <a:t>接入雷达状态、车端导航、射击命中和通信延迟；收敛仿真参数。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731520"/>
            <a:ext cx="73152" cy="1828800"/>
          </a:xfrm>
          <a:prstGeom prst="roundRect">
            <a:avLst/>
          </a:prstGeom>
          <a:solidFill>
            <a:srgbClr val="32CBD9"/>
          </a:solidFill>
          <a:ln>
            <a:solidFill>
              <a:srgbClr val="3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841248"/>
            <a:ext cx="96012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300" b="1">
                <a:solidFill>
                  <a:srgbClr val="32CBD9"/>
                </a:solidFill>
                <a:latin typeface="Noto Sans CJK SC"/>
              </a:rP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34440"/>
            <a:ext cx="9692640" cy="10058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2900" b="1">
                <a:solidFill>
                  <a:srgbClr val="F0F4F8"/>
                </a:solidFill>
                <a:latin typeface="Noto Sans CJK SC"/>
              </a:rPr>
              <a:t>雷达站端决策系统已经具备
“可运行、可回放、可校验”的最小闭环。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969264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700" b="0">
                <a:solidFill>
                  <a:srgbClr val="A6B4C3"/>
                </a:solidFill>
                <a:latin typeface="Noto Sans CJK SC"/>
              </a:rPr>
              <a:t>下一步不再只是增加 reward，而是用稳定规则、真实陪练分布和逐目标路径代价，让哨兵学会在进攻、回补给与基地防守之间做长期选择。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4983480"/>
            <a:ext cx="10287000" cy="685800"/>
          </a:xfrm>
          <a:prstGeom prst="roundRect">
            <a:avLst/>
          </a:prstGeom>
          <a:solidFill>
            <a:srgbClr val="171F2B"/>
          </a:solidFill>
          <a:ln>
            <a:solidFill>
              <a:srgbClr val="17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93792"/>
            <a:ext cx="996696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600" b="1">
                <a:solidFill>
                  <a:srgbClr val="60CD8E"/>
                </a:solidFill>
                <a:latin typeface="Noto Sans CJK SC"/>
              </a:rPr>
              <a:t>雷达站高层决策  ×  车端传统执行  ×  可验证规则世界模型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